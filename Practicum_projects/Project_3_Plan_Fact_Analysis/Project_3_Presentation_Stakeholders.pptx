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7"/>
    <p:restoredTop sz="94664"/>
  </p:normalViewPr>
  <p:slideViewPr>
    <p:cSldViewPr snapToGrid="0" showGuides="1">
      <p:cViewPr>
        <p:scale>
          <a:sx n="145" d="100"/>
          <a:sy n="145" d="100"/>
        </p:scale>
        <p:origin x="24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ndrey/Desktop/&#1055;&#1088;&#1086;&#1077;&#1082;&#1090;_3_&#1055;&#1083;&#1072;&#1085;-&#1092;&#1072;&#1082;&#1090;_&#1072;&#1085;&#1072;&#1083;&#1080;&#1079;_&#1085;&#1086;&#1074;&#1099;&#1093;_&#1085;&#1072;&#1087;&#1088;&#1072;&#1074;&#1083;&#1077;&#1085;&#1080;&#1080;&#774;_&#1073;&#1080;&#1079;&#1085;&#1077;&#1089;&#1072;_&#1096;&#1072;&#1073;&#1083;&#1086;&#108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ndrey/Desktop/&#1055;&#1088;&#1086;&#1077;&#1082;&#1090;_3_&#1055;&#1083;&#1072;&#1085;-&#1092;&#1072;&#1082;&#1090;_&#1072;&#1085;&#1072;&#1083;&#1080;&#1079;_&#1085;&#1086;&#1074;&#1099;&#1093;_&#1085;&#1072;&#1087;&#1088;&#1072;&#1074;&#1083;&#1077;&#1085;&#1080;&#1080;&#774;_&#1073;&#1080;&#1079;&#1085;&#1077;&#1089;&#1072;_&#1096;&#1072;&#1073;&#1083;&#1086;&#108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</c:rich>
      </c:tx>
      <c:layout>
        <c:manualLayout>
          <c:xMode val="edge"/>
          <c:yMode val="edge"/>
          <c:x val="0.23694336381393072"/>
          <c:y val="8.09297206306043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B0F0"/>
            </a:soli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AF-2545-8DCE-743C0C6AF694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AF-2545-8DCE-743C0C6AF694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5AF-2545-8DCE-743C0C6AF6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-15987</c:v>
                </c:pt>
                <c:pt idx="1">
                  <c:v>-554</c:v>
                </c:pt>
                <c:pt idx="2">
                  <c:v>-16541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AF-2545-8DCE-743C0C6AF6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29090352"/>
        <c:axId val="1895193264"/>
      </c:barChart>
      <c:catAx>
        <c:axId val="172909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5193264"/>
        <c:crosses val="autoZero"/>
        <c:auto val="1"/>
        <c:lblAlgn val="ctr"/>
        <c:lblOffset val="100"/>
        <c:noMultiLvlLbl val="0"/>
      </c:catAx>
      <c:valAx>
        <c:axId val="1895193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2909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3884584863706535"/>
          <c:y val="6.18556366287108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427965285744146"/>
          <c:y val="0.22817857067480007"/>
          <c:w val="0.77137439947069486"/>
          <c:h val="0.533082483382047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'Для презентации'!$A$4</c:f>
              <c:strCache>
                <c:ptCount val="1"/>
                <c:pt idx="0">
                  <c:v>Расходы на персонал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FE-944A-A9E3-69459B464A6F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FE-944A-A9E3-69459B464A6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FFE-944A-A9E3-69459B464A6F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FFE-944A-A9E3-69459B464A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'Для презентации'!$B$2:$E$3</c:f>
              <c:multiLvlStrCache>
                <c:ptCount val="4"/>
                <c:lvl>
                  <c:pt idx="0">
                    <c:v>План</c:v>
                  </c:pt>
                  <c:pt idx="1">
                    <c:v>Факт</c:v>
                  </c:pt>
                  <c:pt idx="2">
                    <c:v>План</c:v>
                  </c:pt>
                  <c:pt idx="3">
                    <c:v>Факт</c:v>
                  </c:pt>
                </c:lvl>
                <c:lvl>
                  <c:pt idx="0">
                    <c:v>Community</c:v>
                  </c:pt>
                  <c:pt idx="2">
                    <c:v>Education</c:v>
                  </c:pt>
                </c:lvl>
              </c:multiLvlStrCache>
            </c:multiLvlStrRef>
          </c:cat>
          <c:val>
            <c:numRef>
              <c:f>'Для презентации'!$B$4:$E$4</c:f>
              <c:numCache>
                <c:formatCode>#,##0</c:formatCode>
                <c:ptCount val="4"/>
                <c:pt idx="0">
                  <c:v>6048</c:v>
                </c:pt>
                <c:pt idx="1">
                  <c:v>6296</c:v>
                </c:pt>
                <c:pt idx="2">
                  <c:v>11892</c:v>
                </c:pt>
                <c:pt idx="3">
                  <c:v>13385.2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FE-944A-A9E3-69459B464A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8916912"/>
        <c:axId val="169038448"/>
      </c:barChart>
      <c:catAx>
        <c:axId val="16891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038448"/>
        <c:crosses val="autoZero"/>
        <c:auto val="1"/>
        <c:lblAlgn val="ctr"/>
        <c:lblOffset val="100"/>
        <c:noMultiLvlLbl val="0"/>
      </c:catAx>
      <c:valAx>
        <c:axId val="169038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916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9302873764210524"/>
          <c:y val="6.44651725636225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'Для презентации'!$A$9</c:f>
              <c:strCache>
                <c:ptCount val="1"/>
                <c:pt idx="0">
                  <c:v>Расходы на лицензии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6C-9A48-9700-237B6B1695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'Для презентации'!$B$7:$C$8</c:f>
              <c:multiLvlStrCache>
                <c:ptCount val="2"/>
                <c:lvl>
                  <c:pt idx="0">
                    <c:v>План</c:v>
                  </c:pt>
                  <c:pt idx="1">
                    <c:v>Факт</c:v>
                  </c:pt>
                </c:lvl>
                <c:lvl>
                  <c:pt idx="0">
                    <c:v>Education</c:v>
                  </c:pt>
                </c:lvl>
              </c:multiLvlStrCache>
            </c:multiLvlStrRef>
          </c:cat>
          <c:val>
            <c:numRef>
              <c:f>'Для презентации'!$B$9:$C$9</c:f>
              <c:numCache>
                <c:formatCode>#,##0</c:formatCode>
                <c:ptCount val="2"/>
                <c:pt idx="0">
                  <c:v>960</c:v>
                </c:pt>
                <c:pt idx="1">
                  <c:v>1704.2815999999993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6C-9A48-9700-237B6B169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8280848"/>
        <c:axId val="169323248"/>
      </c:barChart>
      <c:catAx>
        <c:axId val="218280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323248"/>
        <c:crosses val="autoZero"/>
        <c:auto val="1"/>
        <c:lblAlgn val="ctr"/>
        <c:lblOffset val="100"/>
        <c:noMultiLvlLbl val="0"/>
      </c:catAx>
      <c:valAx>
        <c:axId val="16932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8280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B90C9-CACB-564C-A72B-CFB6E14F8E2B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CCED-98EE-8546-88F8-6D1208DC8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0F70E-CFE5-CD0F-A7C3-969A8B81E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4FE82A-8621-68D2-0877-12FE16C5A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6C3FA5-71AC-52CF-4382-41DF2E8A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3B260F-8749-4CC4-A867-38E5BB13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FE06D-1459-B1E0-D9B8-F053A52A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34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77356-E0DC-7964-8028-341FDD85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A10F7-66DB-5A56-A516-F15BE1A6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CA6A3-35F8-5247-BBDE-F69C5254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D5936-6E39-3F68-36A9-962BDCCE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6A7F79-FF68-47F5-4156-0907964A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66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7D309-FE8D-4091-92AD-77F49B4E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F81E1C-BC1A-4962-DA62-E35BC8D2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26C2C7-0D1A-A08D-57DA-9C7C67F2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936E74-CD75-10BD-391E-12FEB63D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50127D-8DC3-83E7-5431-FAC90C2A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2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11D65-7BC3-1666-A408-584F5980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708CE0-FAF6-793D-96AC-136504FDB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A94F97-2284-467C-115F-12CC4C049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941659-58AB-68BC-D4EB-9C76CECF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ED523F-973E-9FF4-A8F1-4F487F26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C448D3-5AA4-CAB0-FD4A-8160A3C3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69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54409-E91E-A229-CE28-19884F21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FFFE9B-7796-B317-D09B-E3A61B53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4EAAE2-B153-1E5B-C498-3BD592CEB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6B36F3-05AB-4AB2-404B-21CFE679F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81F68D-356C-CD08-F03C-8FDA97DED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0AE2D5-B091-7A01-B3C8-7468ED82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47482E-78EA-8428-B5C0-3AB9D605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7A5090-D12B-1B37-0F19-DB16551A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35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6A964-927F-E631-2DCB-CEC06A55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EFCF0D-568B-D16E-DCB0-DC75B7F8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859FE9C-F55F-A76A-0B2A-15D017E5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F09763-3D84-132B-7D4F-66A0D465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5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DBE071-60AF-6690-87A4-AAA8EE90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D8D18AB-70FA-1DE7-D0D1-43A4299A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FFC4E-1419-611D-00CA-BC4A0312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54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84B71-3D7D-8CB3-D0C5-C5A2BD56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CCEF7-48E7-895F-0C51-A7E09792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388BA2-7472-52D8-01C8-82FD1EF5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DDD64F-D576-B67C-92EA-E4B7183D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EB14A9-F86C-6A3A-AF53-D69ED4B5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937D42-6F73-0D07-A565-09FBDCDE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04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C5884-D4F5-6A22-CADF-C8FD8EFE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C8E41D4-7B61-EC90-7179-861E0546F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6C8EB8-F76C-CEBD-5BD7-3C459C684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F41BE0-2AFC-F20E-F143-03347A28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69EF8E-0B65-37B6-5F24-7443E8DC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89AB5D-2236-4CC0-D7FE-D3CCF59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98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C64FA-A535-43B5-6292-A593C7DB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DD81DB-DE61-9D80-6D5F-3B9630081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8B251-6214-4455-154D-8D7FA4AA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E13D3-8BB5-C277-E350-F479A93C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6FD061-2766-A2BF-8E98-505644AF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13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80F309-B070-30DD-7F1B-24B01CDAE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5C43E9-CCDC-F790-0461-412A32BA4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3B0E10-4139-CFB4-5638-10AE67CD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D6C62A-9D56-18B0-4F54-1F1E06AD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ED116A-0CA9-8554-AEB9-1490A460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F5CAE-09E3-CDFD-CDBF-DF9C7589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6E0CB7-D64F-C800-F87A-326E51E0D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9BD15-9B30-576B-B48B-C29284B43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7AD31-8A70-6B41-BBE4-C82E6CA8498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7D1F1-CAF3-9CDA-3CEF-E5741B0DE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178807-56A1-C782-7E9B-AE8F2B0C7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F5B85-27F8-704B-A566-C3C534A1D8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8E0EC-ABC2-85EA-DCA0-FEE208246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Отчёт </a:t>
            </a:r>
            <a:r>
              <a:rPr lang="en-US" dirty="0" err="1"/>
              <a:t>Kihi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9B4853-5AB7-9B77-FDAA-97E47DF3C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Новые направления</a:t>
            </a:r>
          </a:p>
          <a:p>
            <a:r>
              <a:rPr lang="en-US" dirty="0"/>
              <a:t>Community </a:t>
            </a:r>
            <a:r>
              <a:rPr lang="ru-RU" dirty="0"/>
              <a:t>и </a:t>
            </a:r>
            <a:r>
              <a:rPr lang="en-US" dirty="0"/>
              <a:t>Education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81AF4-FC8E-974B-8C80-3A64292F9631}"/>
              </a:ext>
            </a:extLst>
          </p:cNvPr>
          <p:cNvSpPr txBox="1"/>
          <p:nvPr/>
        </p:nvSpPr>
        <p:spPr>
          <a:xfrm>
            <a:off x="10241280" y="329184"/>
            <a:ext cx="115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/>
              <a:t>Kihi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78283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6BB343C-203C-F92F-3860-3B858D7E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88" y="122238"/>
            <a:ext cx="10515600" cy="1063096"/>
          </a:xfrm>
        </p:spPr>
        <p:txBody>
          <a:bodyPr/>
          <a:lstStyle/>
          <a:p>
            <a:r>
              <a:rPr lang="ru-RU" dirty="0"/>
              <a:t>План-факт анализ по новым проектам         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F1DE215-7265-412E-6CB0-85549747C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945" y="2650067"/>
            <a:ext cx="5157787" cy="3143581"/>
          </a:xfrm>
        </p:spPr>
        <p:txBody>
          <a:bodyPr>
            <a:normAutofit lnSpcReduction="10000"/>
          </a:bodyPr>
          <a:lstStyle/>
          <a:p>
            <a:r>
              <a:rPr lang="en" sz="1300" b="1" i="0" u="none" strike="noStrike" dirty="0">
                <a:solidFill>
                  <a:srgbClr val="000000"/>
                </a:solidFill>
                <a:effectLst/>
              </a:rPr>
              <a:t>Education: 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чистая прибыль выше плановой (фактически лучше прогноза)</a:t>
            </a:r>
            <a:br>
              <a:rPr lang="ru-RU" sz="1300" dirty="0"/>
            </a:br>
            <a:r>
              <a:rPr lang="ru-RU" sz="1300" b="0" dirty="0">
                <a:solidFill>
                  <a:srgbClr val="000000"/>
                </a:solidFill>
              </a:rPr>
              <a:t>Ф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актическая чистая прибыль —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–4 384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, плановая —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–4 757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. Отклонение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+373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  — то есть убытки меньше, чем ожидалось. Это можно считать «лучшим результатом», чем заложено в плане.</a:t>
            </a:r>
          </a:p>
          <a:p>
            <a:r>
              <a:rPr lang="en" sz="1300" b="1" i="0" u="none" strike="noStrike" dirty="0">
                <a:solidFill>
                  <a:srgbClr val="000000"/>
                </a:solidFill>
                <a:effectLst/>
              </a:rPr>
              <a:t>Community: 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чистая прибыль ниже плановой (хуже прогноза)</a:t>
            </a:r>
            <a:br>
              <a:rPr lang="ru-RU" sz="1300" dirty="0"/>
            </a:b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Тоже верно: фактически —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–10 694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, по плану —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–9 802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. Отклонение </a:t>
            </a:r>
            <a:r>
              <a:rPr lang="ru-RU" sz="1300" b="1" i="0" u="none" strike="noStrike" dirty="0">
                <a:solidFill>
                  <a:srgbClr val="000000"/>
                </a:solidFill>
                <a:effectLst/>
              </a:rPr>
              <a:t>–892 тыс. руб.</a:t>
            </a:r>
            <a:r>
              <a:rPr lang="ru-RU" sz="1300" b="0" i="0" u="none" strike="noStrike" dirty="0">
                <a:solidFill>
                  <a:srgbClr val="000000"/>
                </a:solidFill>
                <a:effectLst/>
              </a:rPr>
              <a:t> — убытки превысили ожидания.</a:t>
            </a:r>
          </a:p>
          <a:p>
            <a:r>
              <a:rPr lang="ru-RU" sz="1300" i="0" u="none" strike="noStrike" dirty="0">
                <a:solidFill>
                  <a:srgbClr val="000000"/>
                </a:solidFill>
                <a:effectLst/>
              </a:rPr>
              <a:t>Отклонения частично компенсировали друг друга в сводном результате, однако проблемность </a:t>
            </a:r>
            <a:r>
              <a:rPr lang="en" sz="1300" i="0" u="none" strike="noStrike" dirty="0">
                <a:solidFill>
                  <a:srgbClr val="000000"/>
                </a:solidFill>
                <a:effectLst/>
              </a:rPr>
              <a:t>Community </a:t>
            </a:r>
            <a:r>
              <a:rPr lang="ru-RU" sz="1300" i="0" u="none" strike="noStrike" dirty="0">
                <a:solidFill>
                  <a:srgbClr val="000000"/>
                </a:solidFill>
                <a:effectLst/>
              </a:rPr>
              <a:t>остаётся ключевым риском для финансовой устойчивости компании</a:t>
            </a:r>
          </a:p>
          <a:p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5AAADD7-7EBB-65AB-EFAA-B752D55D5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9668" y="1102318"/>
            <a:ext cx="4598987" cy="155689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              Чистая прибыль </a:t>
            </a:r>
          </a:p>
          <a:p>
            <a:r>
              <a:rPr lang="ru-RU" dirty="0"/>
              <a:t>                новые  проекты</a:t>
            </a:r>
          </a:p>
          <a:p>
            <a:endParaRPr lang="ru-RU" sz="1700" b="0" dirty="0"/>
          </a:p>
          <a:p>
            <a:r>
              <a:rPr lang="ru-RU" sz="1700" b="0" dirty="0"/>
              <a:t>          План                       </a:t>
            </a:r>
            <a:r>
              <a:rPr lang="el-GR" sz="1700" b="0" u="none" strike="noStrike" dirty="0">
                <a:effectLst/>
              </a:rPr>
              <a:t>Δ</a:t>
            </a:r>
            <a:r>
              <a:rPr lang="ru-RU" sz="1700" b="0" u="none" strike="noStrike" dirty="0">
                <a:effectLst/>
              </a:rPr>
              <a:t> </a:t>
            </a:r>
            <a:r>
              <a:rPr lang="en-US" sz="1700" b="0" u="none" strike="noStrike" dirty="0">
                <a:effectLst/>
              </a:rPr>
              <a:t>(±)</a:t>
            </a:r>
            <a:r>
              <a:rPr lang="ru-RU" sz="1700" b="0" u="none" strike="noStrike" dirty="0">
                <a:effectLst/>
              </a:rPr>
              <a:t>                       </a:t>
            </a:r>
            <a:r>
              <a:rPr lang="ru-RU" sz="1600" b="0" dirty="0"/>
              <a:t>Факт</a:t>
            </a:r>
            <a:endParaRPr lang="ru-RU" dirty="0"/>
          </a:p>
        </p:txBody>
      </p:sp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FA119E99-869B-32F2-5B06-F7AC9C8B611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959642067"/>
              </p:ext>
            </p:extLst>
          </p:nvPr>
        </p:nvGraphicFramePr>
        <p:xfrm>
          <a:off x="6485467" y="1841669"/>
          <a:ext cx="5183188" cy="3923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41E4E686-3F82-F260-2070-1EB194410C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849520"/>
              </p:ext>
            </p:extLst>
          </p:nvPr>
        </p:nvGraphicFramePr>
        <p:xfrm>
          <a:off x="67733" y="1373468"/>
          <a:ext cx="5791200" cy="1265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2929">
                  <a:extLst>
                    <a:ext uri="{9D8B030D-6E8A-4147-A177-3AD203B41FA5}">
                      <a16:colId xmlns:a16="http://schemas.microsoft.com/office/drawing/2014/main" val="2196293578"/>
                    </a:ext>
                  </a:extLst>
                </a:gridCol>
                <a:gridCol w="519552">
                  <a:extLst>
                    <a:ext uri="{9D8B030D-6E8A-4147-A177-3AD203B41FA5}">
                      <a16:colId xmlns:a16="http://schemas.microsoft.com/office/drawing/2014/main" val="2991058507"/>
                    </a:ext>
                  </a:extLst>
                </a:gridCol>
                <a:gridCol w="567266">
                  <a:extLst>
                    <a:ext uri="{9D8B030D-6E8A-4147-A177-3AD203B41FA5}">
                      <a16:colId xmlns:a16="http://schemas.microsoft.com/office/drawing/2014/main" val="3038079876"/>
                    </a:ext>
                  </a:extLst>
                </a:gridCol>
                <a:gridCol w="399786">
                  <a:extLst>
                    <a:ext uri="{9D8B030D-6E8A-4147-A177-3AD203B41FA5}">
                      <a16:colId xmlns:a16="http://schemas.microsoft.com/office/drawing/2014/main" val="755124656"/>
                    </a:ext>
                  </a:extLst>
                </a:gridCol>
                <a:gridCol w="438414">
                  <a:extLst>
                    <a:ext uri="{9D8B030D-6E8A-4147-A177-3AD203B41FA5}">
                      <a16:colId xmlns:a16="http://schemas.microsoft.com/office/drawing/2014/main" val="1207315446"/>
                    </a:ext>
                  </a:extLst>
                </a:gridCol>
                <a:gridCol w="535253">
                  <a:extLst>
                    <a:ext uri="{9D8B030D-6E8A-4147-A177-3AD203B41FA5}">
                      <a16:colId xmlns:a16="http://schemas.microsoft.com/office/drawing/2014/main" val="1634957458"/>
                    </a:ext>
                  </a:extLst>
                </a:gridCol>
                <a:gridCol w="399627">
                  <a:extLst>
                    <a:ext uri="{9D8B030D-6E8A-4147-A177-3AD203B41FA5}">
                      <a16:colId xmlns:a16="http://schemas.microsoft.com/office/drawing/2014/main" val="2737657955"/>
                    </a:ext>
                  </a:extLst>
                </a:gridCol>
                <a:gridCol w="455506">
                  <a:extLst>
                    <a:ext uri="{9D8B030D-6E8A-4147-A177-3AD203B41FA5}">
                      <a16:colId xmlns:a16="http://schemas.microsoft.com/office/drawing/2014/main" val="3091179566"/>
                    </a:ext>
                  </a:extLst>
                </a:gridCol>
                <a:gridCol w="414867">
                  <a:extLst>
                    <a:ext uri="{9D8B030D-6E8A-4147-A177-3AD203B41FA5}">
                      <a16:colId xmlns:a16="http://schemas.microsoft.com/office/drawing/2014/main" val="48532663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15407742"/>
                    </a:ext>
                  </a:extLst>
                </a:gridCol>
              </a:tblGrid>
              <a:tr h="19788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 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000" b="1" u="none" strike="noStrike">
                          <a:effectLst/>
                        </a:rPr>
                        <a:t>Итого новые проекты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000" b="1" u="none" strike="noStrike">
                          <a:effectLst/>
                        </a:rPr>
                        <a:t>Community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000" b="1" u="none" strike="noStrike">
                          <a:effectLst/>
                        </a:rPr>
                        <a:t>Education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570460"/>
                  </a:ext>
                </a:extLst>
              </a:tr>
              <a:tr h="18024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 Тыс. Руб.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Факт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План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u="none" strike="noStrike" dirty="0">
                          <a:effectLst/>
                        </a:rPr>
                        <a:t>Δ</a:t>
                      </a:r>
                      <a:r>
                        <a:rPr lang="ru-RU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(±)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Факт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План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000" u="none" strike="noStrike">
                          <a:effectLst/>
                        </a:rPr>
                        <a:t>Δ</a:t>
                      </a:r>
                      <a:r>
                        <a:rPr lang="en-US" sz="1000" u="none" strike="noStrike">
                          <a:effectLst/>
                        </a:rPr>
                        <a:t> (±)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Факт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План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u="none" strike="noStrike">
                          <a:effectLst/>
                        </a:rPr>
                        <a:t>Δ</a:t>
                      </a:r>
                      <a:r>
                        <a:rPr lang="en-US" sz="1000" u="none" strike="noStrike">
                          <a:effectLst/>
                        </a:rPr>
                        <a:t> (±)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74107001"/>
                  </a:ext>
                </a:extLst>
              </a:tr>
              <a:tr h="20127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Валовая прибыль 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-7 878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-7 012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-866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-7 094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-6 057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-1 037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-784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-955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171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98542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Операционные расходы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8 663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8 974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-311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3 600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3 745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-145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3 600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3 802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-202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4705559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Операционная прибыль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-16 541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-15 987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-554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-10 694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-9 802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-892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-4 384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-4 757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373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2419962"/>
                  </a:ext>
                </a:extLst>
              </a:tr>
              <a:tr h="22061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1" u="none" strike="noStrike">
                          <a:effectLst/>
                        </a:rPr>
                        <a:t>Чистая прибыль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-16 541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-15 987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-554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-10 694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-9 802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-892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-4 384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>
                          <a:effectLst/>
                        </a:rPr>
                        <a:t>-4 757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b="1" u="none" strike="noStrike" dirty="0">
                          <a:effectLst/>
                        </a:rPr>
                        <a:t>373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361988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D9B8EA3-A9AA-5951-B69D-C7F834B0E403}"/>
              </a:ext>
            </a:extLst>
          </p:cNvPr>
          <p:cNvSpPr txBox="1"/>
          <p:nvPr/>
        </p:nvSpPr>
        <p:spPr>
          <a:xfrm>
            <a:off x="11265408" y="384048"/>
            <a:ext cx="77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Kihi</a:t>
            </a:r>
            <a:endParaRPr lang="ru-RU" b="1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516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AD698-EC6F-2909-BA21-3922CF6E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721" y="147881"/>
            <a:ext cx="10515600" cy="1325563"/>
          </a:xfrm>
        </p:spPr>
        <p:txBody>
          <a:bodyPr/>
          <a:lstStyle/>
          <a:p>
            <a:r>
              <a:rPr lang="ru-RU" b="1" i="0" u="none" strike="noStrike" dirty="0">
                <a:solidFill>
                  <a:srgbClr val="000000"/>
                </a:solidFill>
                <a:effectLst/>
                <a:latin typeface="YS Geo"/>
              </a:rPr>
              <a:t>Составляющие внеплановых расходов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53A087-9786-16FB-DF20-B2E1F55D2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376" y="3914500"/>
            <a:ext cx="5157787" cy="1219200"/>
          </a:xfrm>
        </p:spPr>
        <p:txBody>
          <a:bodyPr>
            <a:noAutofit/>
          </a:bodyPr>
          <a:lstStyle/>
          <a:p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по </a:t>
            </a: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Community: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направление работает с убытком, основные проблемы — недостижение плановых доходов и превышение затрат. Необходима корректировка маркетинговой стратегии и оптимизация расходов</a:t>
            </a:r>
          </a:p>
          <a:p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по </a:t>
            </a: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Education: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направление демонстрирует рост выручки, но остаётся убыточным. Ключевая задача — снизить себестоимость при сохранении текущего уровня доходов.</a:t>
            </a:r>
            <a:endParaRPr lang="ru-RU" sz="1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029FEF-B327-0520-96FB-5A058D5AB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46393" y="3820884"/>
            <a:ext cx="5797264" cy="2889235"/>
          </a:xfrm>
        </p:spPr>
        <p:txBody>
          <a:bodyPr>
            <a:normAutofit/>
          </a:bodyPr>
          <a:lstStyle/>
          <a:p>
            <a:pPr algn="l"/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Community: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b="0" dirty="0">
                <a:solidFill>
                  <a:srgbClr val="000000"/>
                </a:solidFill>
              </a:rPr>
              <a:t>п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ревышение расходов на поддержку пользователей, увеличение затрат на продвижение — неэффективные маркетинговые кампании, низкий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ROI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ru-RU" sz="1200" b="0" dirty="0">
                <a:solidFill>
                  <a:srgbClr val="000000"/>
                </a:solidFill>
              </a:rPr>
              <a:t>с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ебестоимость выше плана на 254 тыс. руб. </a:t>
            </a:r>
          </a:p>
          <a:p>
            <a:pPr algn="l"/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Education</a:t>
            </a:r>
            <a:r>
              <a:rPr lang="en-US" sz="1200" dirty="0">
                <a:solidFill>
                  <a:srgbClr val="000000"/>
                </a:solidFill>
              </a:rPr>
              <a:t>: </a:t>
            </a:r>
            <a:r>
              <a:rPr lang="ru-RU" sz="1200" b="0" dirty="0">
                <a:solidFill>
                  <a:srgbClr val="000000"/>
                </a:solidFill>
              </a:rPr>
              <a:t>р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ост расходов на кураторов и преподавателей — увеличение нагрузки, необходимость привлечения дополнительных специалистов, увеличение затрат на разработку контента — обновление программ, адаптация под новые требования, себестоимость выше плана на 1 921 тыс. руб. — расширение команды, рост расходов на оборудование.</a:t>
            </a:r>
          </a:p>
          <a:p>
            <a:pPr algn="l"/>
            <a:endParaRPr lang="ru-RU" sz="1200" b="0" dirty="0">
              <a:solidFill>
                <a:srgbClr val="000000"/>
              </a:solidFill>
            </a:endParaRPr>
          </a:p>
          <a:p>
            <a:pPr algn="l"/>
            <a:endParaRPr lang="ru-RU" sz="12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ru-RU" sz="12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" sz="1200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E7FA39B0-B5C8-543E-D691-D194263DD7C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7306250"/>
              </p:ext>
            </p:extLst>
          </p:nvPr>
        </p:nvGraphicFramePr>
        <p:xfrm>
          <a:off x="262376" y="1952905"/>
          <a:ext cx="5183188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10610977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821137879"/>
                    </a:ext>
                  </a:extLst>
                </a:gridCol>
                <a:gridCol w="627256">
                  <a:extLst>
                    <a:ext uri="{9D8B030D-6E8A-4147-A177-3AD203B41FA5}">
                      <a16:colId xmlns:a16="http://schemas.microsoft.com/office/drawing/2014/main" val="2043757082"/>
                    </a:ext>
                  </a:extLst>
                </a:gridCol>
                <a:gridCol w="503983">
                  <a:extLst>
                    <a:ext uri="{9D8B030D-6E8A-4147-A177-3AD203B41FA5}">
                      <a16:colId xmlns:a16="http://schemas.microsoft.com/office/drawing/2014/main" val="79037554"/>
                    </a:ext>
                  </a:extLst>
                </a:gridCol>
                <a:gridCol w="503983">
                  <a:extLst>
                    <a:ext uri="{9D8B030D-6E8A-4147-A177-3AD203B41FA5}">
                      <a16:colId xmlns:a16="http://schemas.microsoft.com/office/drawing/2014/main" val="2378227382"/>
                    </a:ext>
                  </a:extLst>
                </a:gridCol>
                <a:gridCol w="503983">
                  <a:extLst>
                    <a:ext uri="{9D8B030D-6E8A-4147-A177-3AD203B41FA5}">
                      <a16:colId xmlns:a16="http://schemas.microsoft.com/office/drawing/2014/main" val="114605108"/>
                    </a:ext>
                  </a:extLst>
                </a:gridCol>
                <a:gridCol w="503983">
                  <a:extLst>
                    <a:ext uri="{9D8B030D-6E8A-4147-A177-3AD203B41FA5}">
                      <a16:colId xmlns:a16="http://schemas.microsoft.com/office/drawing/2014/main" val="1234529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000" u="none" strike="noStrike" dirty="0">
                          <a:effectLst/>
                        </a:rPr>
                        <a:t>Community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000" u="none" strike="noStrike">
                          <a:effectLst/>
                        </a:rPr>
                        <a:t>Education</a:t>
                      </a:r>
                      <a:endParaRPr lang="en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624875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 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Факт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План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u="none" strike="noStrike" dirty="0">
                          <a:effectLst/>
                        </a:rPr>
                        <a:t>Δ</a:t>
                      </a:r>
                      <a:r>
                        <a:rPr lang="ru-RU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(±)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Факт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План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1000" u="none" strike="noStrike" dirty="0">
                          <a:effectLst/>
                        </a:rPr>
                        <a:t>Δ</a:t>
                      </a:r>
                      <a:r>
                        <a:rPr lang="ru-RU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(±)</a:t>
                      </a:r>
                      <a:endParaRPr lang="el-GR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2721803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Выручка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4 057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4 841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-783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17 739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15 647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2 092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6337710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Себестоимость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11 152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10 898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254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18 523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16 602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1 921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3588374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Валовая прибыль 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-7 094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-6 057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-1 037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-784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-955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171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2975868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Операционные расходы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3 600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3 745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-145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3 600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3 802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-202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8623835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Операционная прибыль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-10 694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-9 802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-892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-4 384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-4 757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>
                          <a:effectLst/>
                        </a:rPr>
                        <a:t>373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38380357"/>
                  </a:ext>
                </a:extLst>
              </a:tr>
              <a:tr h="10634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effectLst/>
                        </a:rPr>
                        <a:t>Чистая прибыль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-10 694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-9 802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-892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-4 384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-4 757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00" u="none" strike="noStrike" dirty="0">
                          <a:effectLst/>
                        </a:rPr>
                        <a:t>373</a:t>
                      </a:r>
                      <a:endParaRPr lang="ru-RU" sz="10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0703859"/>
                  </a:ext>
                </a:extLst>
              </a:tr>
            </a:tbl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9AF845B8-128F-EB61-8CF2-0E1C43738A1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815150019"/>
              </p:ext>
            </p:extLst>
          </p:nvPr>
        </p:nvGraphicFramePr>
        <p:xfrm>
          <a:off x="5699653" y="1804458"/>
          <a:ext cx="3037945" cy="1847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6FDF78CE-EEAE-12AF-D669-0044872489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067733"/>
              </p:ext>
            </p:extLst>
          </p:nvPr>
        </p:nvGraphicFramePr>
        <p:xfrm>
          <a:off x="8684229" y="1804458"/>
          <a:ext cx="3245395" cy="1970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968FC9F-D23F-D453-7C6F-6FAFCEB9F1CB}"/>
              </a:ext>
            </a:extLst>
          </p:cNvPr>
          <p:cNvSpPr txBox="1"/>
          <p:nvPr/>
        </p:nvSpPr>
        <p:spPr>
          <a:xfrm>
            <a:off x="11342914" y="296092"/>
            <a:ext cx="844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Kihi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151677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75E4C-A2A6-F0C5-83B1-03D66E64FB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190500"/>
            <a:ext cx="10515600" cy="1325563"/>
          </a:xfrm>
        </p:spPr>
        <p:txBody>
          <a:bodyPr/>
          <a:lstStyle/>
          <a:p>
            <a:r>
              <a:rPr lang="ru-RU" sz="3600" dirty="0"/>
              <a:t>Общие выводы по направлениям и рекомендации</a:t>
            </a:r>
            <a:r>
              <a:rPr lang="en-US" sz="3600" dirty="0"/>
              <a:t>  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57A411-FFA3-B5F4-52CD-6270B8592B8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60399" y="853281"/>
            <a:ext cx="5157788" cy="1732099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Community: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убыточность по валовой </a:t>
            </a:r>
            <a:r>
              <a:rPr lang="ru-RU" sz="1200" b="0" i="0" u="none" strike="noStrike" dirty="0" err="1">
                <a:solidFill>
                  <a:srgbClr val="000000"/>
                </a:solidFill>
                <a:effectLst/>
              </a:rPr>
              <a:t>прибыли,недостижение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 плановых показателей по выручке, необходимость оптимизации затрат и пересмотра маркетинговой стратегии, высокий уровень оттока клиентов (25% ниже плана).</a:t>
            </a:r>
          </a:p>
          <a:p>
            <a:pPr marL="0" indent="0" algn="l">
              <a:buNone/>
            </a:pP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Education: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превышение плановых показателей по выручке (рост на 13%), снижение убыточности по валовой </a:t>
            </a:r>
            <a:r>
              <a:rPr lang="ru-RU" sz="1200" b="0" i="0" u="none" strike="noStrike" dirty="0" err="1">
                <a:solidFill>
                  <a:srgbClr val="000000"/>
                </a:solidFill>
                <a:effectLst/>
              </a:rPr>
              <a:t>прибыли,риск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 роста себестоимости при сохранении текущих темпов роста (рост на 11%), высокая востребованность курсов (рост числа студентов на 20%).</a:t>
            </a:r>
            <a:br>
              <a:rPr lang="ru-RU" sz="1200" dirty="0"/>
            </a:br>
            <a:endParaRPr lang="ru-RU" sz="1200" b="0" i="0" u="none" strike="noStrike" dirty="0">
              <a:solidFill>
                <a:srgbClr val="000000"/>
              </a:solidFill>
              <a:effectLst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9A4AE-B318-6FC0-4EFA-A985923B3A2B}"/>
              </a:ext>
            </a:extLst>
          </p:cNvPr>
          <p:cNvSpPr txBox="1"/>
          <p:nvPr/>
        </p:nvSpPr>
        <p:spPr>
          <a:xfrm flipH="1">
            <a:off x="6627222" y="853281"/>
            <a:ext cx="4876800" cy="175432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l"/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Рекомендации для маркетинга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ru-RU" sz="1200" dirty="0">
                <a:solidFill>
                  <a:srgbClr val="000000"/>
                </a:solidFill>
              </a:rPr>
              <a:t>п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ровести анализ причин снижения выручки в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Community (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опрос 500 клиентов, анализ оттока),разработать акции для стимулирования продлений подписок в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Community (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скидка 15% при продлении, программа лояльности), проанализировать успешные практики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Education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для применения в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Community (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кейсы успешных курсов, формат контента),усилить продвижение курсов с высокой маржинальностью в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Education (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таргетированная реклама, вебинары с кураторами).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FD35E-413A-90A1-9780-8AA3160C9F8C}"/>
              </a:ext>
            </a:extLst>
          </p:cNvPr>
          <p:cNvSpPr txBox="1"/>
          <p:nvPr/>
        </p:nvSpPr>
        <p:spPr>
          <a:xfrm>
            <a:off x="460399" y="2747890"/>
            <a:ext cx="5157788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l"/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Рекомендации для поддержки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по </a:t>
            </a: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Community</a:t>
            </a:r>
            <a:r>
              <a:rPr lang="ru-RU" sz="1200" b="1" dirty="0">
                <a:solidFill>
                  <a:srgbClr val="000000"/>
                </a:solidFill>
              </a:rPr>
              <a:t>-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автоматизировать ответы на частые вопросы (внедрить чат-бота с базой 100+ ответов),обучить команду работе с негативными отзывами (тренинги, скрипты общения), оптимизировать процессы обработки заявок (внедрить </a:t>
            </a:r>
            <a:r>
              <a:rPr lang="en" sz="1200" b="0" i="0" u="none" strike="noStrike" dirty="0">
                <a:solidFill>
                  <a:srgbClr val="000000"/>
                </a:solidFill>
                <a:effectLst/>
              </a:rPr>
              <a:t>CRM-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систему, автоматизация рутинных задач), сократить время ответа на запросы на 30%. По </a:t>
            </a: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Education</a:t>
            </a:r>
            <a:r>
              <a:rPr lang="ru-RU" sz="1200" b="1" dirty="0">
                <a:solidFill>
                  <a:srgbClr val="000000"/>
                </a:solidFill>
              </a:rPr>
              <a:t> –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повысить оперативность ответов кураторов, разработать чек-лист для поддержки студентов (шаблон ответов, база знаний), внедрить систему менторства для сложных случаев (назначение опытного куратора),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улучшить интеграцию между технической поддержкой и кураторами, провести аудит качества поддержки (опрос студентов, оценка удовлетворённости).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ABF4F-EA81-9E14-0700-A730AD287EC8}"/>
              </a:ext>
            </a:extLst>
          </p:cNvPr>
          <p:cNvSpPr txBox="1"/>
          <p:nvPr/>
        </p:nvSpPr>
        <p:spPr>
          <a:xfrm>
            <a:off x="6627222" y="2747890"/>
            <a:ext cx="4876800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l"/>
            <a:r>
              <a:rPr lang="ru-RU" sz="1200" b="1" i="0" u="none" strike="noStrike" dirty="0">
                <a:solidFill>
                  <a:srgbClr val="000000"/>
                </a:solidFill>
                <a:effectLst/>
              </a:rPr>
              <a:t>Рекомендации для контента (</a:t>
            </a:r>
            <a:r>
              <a:rPr lang="en" sz="1200" b="1" i="0" u="none" strike="noStrike" dirty="0">
                <a:solidFill>
                  <a:srgbClr val="000000"/>
                </a:solidFill>
                <a:effectLst/>
              </a:rPr>
              <a:t>Education)</a:t>
            </a:r>
            <a:r>
              <a:rPr lang="ru-RU" sz="1200" dirty="0">
                <a:solidFill>
                  <a:srgbClr val="000000"/>
                </a:solidFill>
              </a:rPr>
              <a:t>: п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</a:rPr>
              <a:t>ровести аудит контента (выявить слабые места по оценкам студентов: опрос 1 000 студентов, анализ отзывов),обновить материалы с учётом обратной связи (добавить 50+ кейсов, практических заданий), разработать дополнительные ресурсы (чек-листы, шаблоны), оптимизировать формат подачи материала (короткие видео ≤ 5 мин, инфографика для сложных тем),создать библиотеку дополнительных материалов (доступ после завершения курса).</a:t>
            </a:r>
          </a:p>
          <a:p>
            <a:pPr algn="l"/>
            <a:endParaRPr lang="ru-RU" sz="1200" dirty="0">
              <a:solidFill>
                <a:srgbClr val="000000"/>
              </a:solidFill>
            </a:endParaRPr>
          </a:p>
          <a:p>
            <a:pPr algn="l"/>
            <a:endParaRPr lang="ru-RU" sz="12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ru-RU" sz="1200" dirty="0">
              <a:solidFill>
                <a:srgbClr val="000000"/>
              </a:solidFill>
            </a:endParaRPr>
          </a:p>
          <a:p>
            <a:pPr algn="l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F2060-72BD-03CE-2AC1-1447F8F088F7}"/>
              </a:ext>
            </a:extLst>
          </p:cNvPr>
          <p:cNvSpPr txBox="1"/>
          <p:nvPr/>
        </p:nvSpPr>
        <p:spPr>
          <a:xfrm>
            <a:off x="2455734" y="5411450"/>
            <a:ext cx="6888480" cy="133882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ru-RU" sz="1050" b="1" i="0" u="none" strike="noStrike" dirty="0">
                <a:solidFill>
                  <a:srgbClr val="000000"/>
                </a:solidFill>
                <a:effectLst/>
              </a:rPr>
              <a:t>Роль финансов после внедрения изменений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пересмотреть бюджет на следующий период с учётом скорректированных показателей (снижение затрат на 10%)</a:t>
            </a:r>
            <a:r>
              <a:rPr lang="en-US" sz="1050" dirty="0">
                <a:solidFill>
                  <a:srgbClr val="000000"/>
                </a:solidFill>
              </a:rPr>
              <a:t>, 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проанализировать </a:t>
            </a:r>
            <a:r>
              <a:rPr lang="en" sz="1050" b="0" i="0" u="none" strike="noStrike" dirty="0">
                <a:solidFill>
                  <a:srgbClr val="000000"/>
                </a:solidFill>
                <a:effectLst/>
              </a:rPr>
              <a:t>ROI 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по направлениям и перераспределить ресурсы (увеличить бюджет на маркетинг на 15%)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</a:rPr>
              <a:t>,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внедрить систему мониторинга ключевых метрик в реальном времени (</a:t>
            </a:r>
            <a:r>
              <a:rPr lang="ru-RU" sz="1050" b="0" i="0" u="none" strike="noStrike" dirty="0" err="1">
                <a:solidFill>
                  <a:srgbClr val="000000"/>
                </a:solidFill>
                <a:effectLst/>
              </a:rPr>
              <a:t>дашборд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 с </a:t>
            </a:r>
            <a:r>
              <a:rPr lang="en" sz="1050" b="0" i="0" u="none" strike="noStrike" dirty="0">
                <a:solidFill>
                  <a:srgbClr val="000000"/>
                </a:solidFill>
                <a:effectLst/>
              </a:rPr>
              <a:t>KPI: 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выручка, отток, себестоимость)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</a:rPr>
              <a:t>,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спрогнозировать финансовые результаты с учётом новых стратегий (план на 6 месяцев с шагом в 1 месяц)</a:t>
            </a:r>
            <a:r>
              <a:rPr lang="en-US" sz="1050" dirty="0">
                <a:solidFill>
                  <a:srgbClr val="000000"/>
                </a:solidFill>
              </a:rPr>
              <a:t>,</a:t>
            </a:r>
            <a:r>
              <a:rPr lang="ru-RU" sz="1050" b="0" i="0" u="none" strike="noStrike" dirty="0">
                <a:solidFill>
                  <a:srgbClr val="000000"/>
                </a:solidFill>
                <a:effectLst/>
              </a:rPr>
              <a:t>контролировать исполнение бюджета и оперативно реагировать на отклонения (еженедельный отчёт).</a:t>
            </a: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1A0B3-F919-5490-8320-0F5691396A89}"/>
              </a:ext>
            </a:extLst>
          </p:cNvPr>
          <p:cNvSpPr txBox="1"/>
          <p:nvPr/>
        </p:nvSpPr>
        <p:spPr>
          <a:xfrm>
            <a:off x="11298116" y="43962"/>
            <a:ext cx="70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  </a:t>
            </a:r>
            <a:r>
              <a:rPr lang="en-US" b="1" i="1" dirty="0" err="1"/>
              <a:t>Kihi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6580319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926</Words>
  <Application>Microsoft Macintosh PowerPoint</Application>
  <PresentationFormat>Широкоэкранный</PresentationFormat>
  <Paragraphs>143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Roboto</vt:lpstr>
      <vt:lpstr>YS Geo</vt:lpstr>
      <vt:lpstr>Тема Office</vt:lpstr>
      <vt:lpstr>Отчёт Kihi</vt:lpstr>
      <vt:lpstr>План-факт анализ по новым проектам          </vt:lpstr>
      <vt:lpstr>Составляющие внеплановых расходов</vt:lpstr>
      <vt:lpstr>Общие выводы по направлениям и рекомендации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Киселев</dc:creator>
  <cp:lastModifiedBy>Андрей Киселев</cp:lastModifiedBy>
  <cp:revision>19</cp:revision>
  <dcterms:created xsi:type="dcterms:W3CDTF">2026-04-20T10:45:00Z</dcterms:created>
  <dcterms:modified xsi:type="dcterms:W3CDTF">2026-04-20T17:49:53Z</dcterms:modified>
</cp:coreProperties>
</file>